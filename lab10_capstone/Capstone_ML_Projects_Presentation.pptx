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a1a40c9-aef4-56a0-6c29-1b779c44f35b}">
          <p14:sldIdLst>
            <p14:sldId id="256"/>
            <p14:sldId id="257"/>
            <p14:sldId id="258"/>
            <p14:sldId id="259"/>
          </p14:sldIdLst>
        </p14:section>
        <p14:section name="Project 1: Loan Approval" id="{bb876a36-21e5-fd28-3aef-471cd5a7df3b}">
          <p14:sldIdLst>
            <p14:sldId id="260"/>
            <p14:sldId id="261"/>
            <p14:sldId id="262"/>
            <p14:sldId id="263"/>
            <p14:sldId id="264"/>
          </p14:sldIdLst>
        </p14:section>
        <p14:section name="Project 2: Disease Prediction" id="{69c8e5d5-1f2e-9a50-18b9-f85c503c891d}">
          <p14:sldIdLst>
            <p14:sldId id="265"/>
            <p14:sldId id="266"/>
            <p14:sldId id="267"/>
            <p14:sldId id="268"/>
          </p14:sldIdLst>
        </p14:section>
        <p14:section name="Conclusion" id="{1def540d-2c81-1b21-ee3e-995e5fa972e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1F8A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Regression</c:v>
                  </c:pt>
                  <c:pt idx="1">
                    <c:v>KNN</c:v>
                  </c:pt>
                  <c:pt idx="2">
                    <c:v>Gradient Boosting</c:v>
                  </c:pt>
                  <c:pt idx="3">
                    <c:v>Random Forest</c:v>
                  </c:pt>
                  <c:pt idx="4">
                    <c:v>Decision Tree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0.787</c:v>
                </c:pt>
                <c:pt idx="1">
                  <c:v>0.788</c:v>
                </c:pt>
                <c:pt idx="2">
                  <c:v>0.768</c:v>
                </c:pt>
                <c:pt idx="3">
                  <c:v>0.77</c:v>
                </c:pt>
                <c:pt idx="4">
                  <c:v>0.772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Regression</c:v>
                  </c:pt>
                  <c:pt idx="1">
                    <c:v>KNN</c:v>
                  </c:pt>
                  <c:pt idx="2">
                    <c:v>Gradient Boosting</c:v>
                  </c:pt>
                  <c:pt idx="3">
                    <c:v>Random Forest</c:v>
                  </c:pt>
                  <c:pt idx="4">
                    <c:v>Decision Tree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0.79</c:v>
                </c:pt>
                <c:pt idx="1">
                  <c:v>0.769</c:v>
                </c:pt>
                <c:pt idx="2">
                  <c:v>0.766</c:v>
                </c:pt>
                <c:pt idx="3">
                  <c:v>0.763</c:v>
                </c:pt>
                <c:pt idx="4">
                  <c:v>0.758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9525" cap="flat">
              <a:solidFill>
                <a:srgbClr val="DCE6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A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solidFill>
              <a:srgbClr val="1F8A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Logistic Regression</c:v>
                  </c:pt>
                  <c:pt idx="1">
                    <c:v>SVM (RBF)</c:v>
                  </c:pt>
                  <c:pt idx="2">
                    <c:v>Gradient Boosting</c:v>
                  </c:pt>
                  <c:pt idx="3">
                    <c:v>Random Forest</c:v>
                  </c:pt>
                  <c:pt idx="4">
                    <c:v>Naive Bayes</c:v>
                  </c:pt>
                  <c:pt idx="5">
                    <c:v>KNN</c:v>
                  </c:pt>
                  <c:pt idx="6">
                    <c:v>Decision Tree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0.916</c:v>
                </c:pt>
                <c:pt idx="1">
                  <c:v>0.909</c:v>
                </c:pt>
                <c:pt idx="2">
                  <c:v>0.909</c:v>
                </c:pt>
                <c:pt idx="3">
                  <c:v>0.905</c:v>
                </c:pt>
                <c:pt idx="4">
                  <c:v>0.903</c:v>
                </c:pt>
                <c:pt idx="5">
                  <c:v>0.884</c:v>
                </c:pt>
                <c:pt idx="6">
                  <c:v>0.751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Logistic Regression</c:v>
                  </c:pt>
                  <c:pt idx="1">
                    <c:v>SVM (RBF)</c:v>
                  </c:pt>
                  <c:pt idx="2">
                    <c:v>Gradient Boosting</c:v>
                  </c:pt>
                  <c:pt idx="3">
                    <c:v>Random Forest</c:v>
                  </c:pt>
                  <c:pt idx="4">
                    <c:v>Naive Bayes</c:v>
                  </c:pt>
                  <c:pt idx="5">
                    <c:v>KNN</c:v>
                  </c:pt>
                  <c:pt idx="6">
                    <c:v>Decision Tree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0.905</c:v>
                </c:pt>
                <c:pt idx="1">
                  <c:v>0.905</c:v>
                </c:pt>
                <c:pt idx="2">
                  <c:v>0.886</c:v>
                </c:pt>
                <c:pt idx="3">
                  <c:v>0.89</c:v>
                </c:pt>
                <c:pt idx="4">
                  <c:v>0.887</c:v>
                </c:pt>
                <c:pt idx="5">
                  <c:v>0.883</c:v>
                </c:pt>
                <c:pt idx="6">
                  <c:v>0.704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9525" cap="flat">
              <a:solidFill>
                <a:srgbClr val="DCE6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A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projects: both follow the same end-to-end workflow - data, preprocessing, model comparison, evaluation, saved model, web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history is the strongest separator of approved vs rejected. Data is simulated for the lab; the script runs unchanged on a real Loan Prediction CSV with the same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C"/>
                </a:solidFill>
              </a:rPr>
              <a:t>Lab Sheet-10  |  Capstone Machine Learning Projects  |  MCA III Semester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365760" cy="365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08760" y="9144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097280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18288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Machine Learning Projects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ED6CF"/>
                </a:solidFill>
              </a:rPr>
              <a:t>Loan Approval Prediction  +  Disease Prediction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3E2"/>
                </a:solidFill>
              </a:rPr>
              <a:t>Lab Sheet-10  |  MCA III Semester (Session 2026-2027)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3E2"/>
                </a:solidFill>
              </a:rPr>
              <a:t>COER University, Roorkee, Uttarakhand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projects, one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4973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1: Loan Approval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06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whether a loan is approved from income, education, employment, loan amount, credit history and marital status.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Best model: Logistic Regression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3258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210" y="14973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3776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2: Disease Prediction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606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the most likely disease from 26 symptoms plus age, gender and body temperature; shows the top-3 candidates.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Best model: Logistic Regression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24587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078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 real-world style data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99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Missing values imputed, categories encoded, numbers scaled, new features engineered.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211455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947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multiple algorithms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267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classifiers (loan) and 7 classifiers (disease) judged with 5-fold cross-validation.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834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298323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8163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with suitable metrics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136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Accuracy, precision, recall, F1, ROC-AUC, macro-F1 and top-3 accuracy.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37033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" y="385191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685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 simple interface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280160" y="4005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Trained pipelines saved with joblib and served through Streamlit apps.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Core language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handling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14300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63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Pipelines, models, CV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/ Seaborn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EDA and evaluation plots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29000" y="3108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461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2900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Prediction interface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35040" y="292608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17920" y="3108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24612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Joblib + GitHub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Saved models, version control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data and EDA</a:t>
            </a:r>
            <a:endParaRPr lang="en-US" sz="3200" dirty="0"/>
          </a:p>
        </p:txBody>
      </p:sp>
      <p:pic>
        <p:nvPicPr>
          <p:cNvPr id="3" name="EDA charts for loan data" descr="EDA charts for loan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95984"/>
            <a:ext cx="5394960" cy="28773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26480" y="109728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170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673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applicants, 11 input features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219456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63640" y="22677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67.3%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approved (class imbalance)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329184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33649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3867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missing credit history, imputed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workflow</a:t>
            </a:r>
            <a:endParaRPr lang="en-US" sz="3200" dirty="0"/>
          </a:p>
        </p:txBody>
      </p:sp>
      <p:pic>
        <p:nvPicPr>
          <p:cNvPr id="3" name="Loan system flowchart" descr="Loan system flow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822" y="1005840"/>
            <a:ext cx="6044356" cy="2926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/ most-frequent imputation inside the pipeline (no data leakage)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Engineered features: total household income and EMI-to-income ratio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Loan: model comparison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6692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00800" y="1097280"/>
            <a:ext cx="22860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37960" y="1170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78.7%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537960" y="1673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 accuracy (tuned LR)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2194560"/>
            <a:ext cx="22860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37960" y="2267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7706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ROC-AUC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3291840"/>
            <a:ext cx="22860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3364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recall on approved loans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approval</a:t>
            </a:r>
            <a:endParaRPr lang="en-US" sz="3200" dirty="0"/>
          </a:p>
        </p:txBody>
      </p:sp>
      <p:pic>
        <p:nvPicPr>
          <p:cNvPr id="3" name="Loan confusion matrix, ROC and comparison" descr="Loan confusion matrix, ROC and compa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454"/>
            <a:ext cx="8229600" cy="23236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61188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6850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80"/>
                </a:solidFill>
              </a:rPr>
              <a:t>Top drivers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Credit History, Applicant income, Loan amount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63440" y="361188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36850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</a:rPr>
              <a:t>Trade-off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Catches 92% of approvals but only 51% of rejections; the cut-off can be tuned to risk appetite.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system architecture</a:t>
            </a:r>
            <a:endParaRPr lang="en-US" sz="3200" dirty="0"/>
          </a:p>
        </p:txBody>
      </p:sp>
      <p:pic>
        <p:nvPicPr>
          <p:cNvPr id="3" name="Loan system architecture" descr="Loan system 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7160"/>
            <a:ext cx="5486400" cy="29835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72200" y="118872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Streamlit form collects applicant details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saved pipeline: features, preprocessing and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Result: approval probability, monthly EMI and EMI-to-income ratio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Hints explain weak points such as poor credit history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data and symptoms</a:t>
            </a:r>
            <a:endParaRPr lang="en-US" sz="3200" dirty="0"/>
          </a:p>
        </p:txBody>
      </p:sp>
      <p:pic>
        <p:nvPicPr>
          <p:cNvPr id="3" name="Symptom profile heatmap" descr="Symptom profile heat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66452"/>
            <a:ext cx="5486400" cy="19363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17920" y="109728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1704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4,200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673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patient records, 10 diseases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219456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2267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2770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symptoms + age, gender, temp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329184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33649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3867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fever, headache, fatigue shared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Disease: model comparison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8521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92240" y="1097280"/>
            <a:ext cx="21945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29400" y="1170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90.5%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 accuracy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92240" y="2194560"/>
            <a:ext cx="21945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29400" y="22677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90.5%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2770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macro F1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92240" y="3291840"/>
            <a:ext cx="21945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29400" y="3364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3867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top-3 accuracy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confuses</a:t>
            </a:r>
            <a:endParaRPr lang="en-US" sz="3200" dirty="0"/>
          </a:p>
        </p:txBody>
      </p:sp>
      <p:pic>
        <p:nvPicPr>
          <p:cNvPr id="3" name="Disease confusion matrix and comparison" descr="Disease confusion matrix and compa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314" y="1005840"/>
            <a:ext cx="6935372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Decision Tree was weakest (about 70%); linear and kernel models handled overlapping symptoms best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Most common error: influenza vs COVID-19 (16 of 80 mistakes), so the app shows the top 3 candidates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system and UI</a:t>
            </a:r>
            <a:endParaRPr lang="en-US" sz="3200" dirty="0"/>
          </a:p>
        </p:txBody>
      </p:sp>
      <p:pic>
        <p:nvPicPr>
          <p:cNvPr id="3" name="Disease system architecture" descr="Disease system 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7160"/>
            <a:ext cx="5486400" cy="29835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72200" y="118872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Pick symptoms, enter age, gender and temperature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Top-3 diseases with probabilities in a bar chart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Low-confidence warning when the top choice is under 50%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 'not a medical device' disclaimer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future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D4A52"/>
          </a:solidFill>
          <a:ln w="12700">
            <a:solidFill>
              <a:srgbClr val="1D4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7487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3E2"/>
                </a:solidFill>
              </a:rPr>
              <a:t>Loan model 79% accurate (AUC 0.79); disease model 90% (top-3 99%). Both saved and served via Streamlit.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D4A52"/>
          </a:solidFill>
          <a:ln w="12700">
            <a:solidFill>
              <a:srgbClr val="1D4A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6002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74879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3E2"/>
                </a:solidFill>
              </a:rPr>
              <a:t>Both datasets are simulated. Real data needs fairness checks (loans) and clinical validation (health).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3716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D4A52"/>
          </a:solidFill>
          <a:ln w="12700">
            <a:solidFill>
              <a:srgbClr val="1D4A5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174879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3E2"/>
                </a:solidFill>
              </a:rPr>
              <a:t>Train on real datasets, add explainability (SHAP), monitor drift, deploy to a cloud host.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ML">
  <a:themeElements>
    <a:clrScheme name="Capstone ML">
      <a:dk1>
        <a:srgbClr val="1B1F2A"/>
      </a:dk1>
      <a:lt1>
        <a:srgbClr val="FFFFFF"/>
      </a:lt1>
      <a:dk2>
        <a:srgbClr val="12343B"/>
      </a:dk2>
      <a:lt2>
        <a:srgbClr val="EEF5F4"/>
      </a:lt2>
      <a:accent1>
        <a:srgbClr val="1F8A80"/>
      </a:accent1>
      <a:accent2>
        <a:srgbClr val="E4572E"/>
      </a:accent2>
      <a:accent3>
        <a:srgbClr val="F2B134"/>
      </a:accent3>
      <a:accent4>
        <a:srgbClr val="4C78A8"/>
      </a:accent4>
      <a:accent5>
        <a:srgbClr val="7A9E9F"/>
      </a:accent5>
      <a:accent6>
        <a:srgbClr val="6B4E71"/>
      </a:accent6>
      <a:hlink>
        <a:srgbClr val="1F8A80"/>
      </a:hlink>
      <a:folHlink>
        <a:srgbClr val="6B4E71"/>
      </a:folHlink>
    </a:clrScheme>
    <a:fontScheme name="Capstone 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Machine Learning Projects</dc:title>
  <dc:subject>PptxGenJS Presentation</dc:subject>
  <dc:creator>MCA III Semester</dc:creator>
  <cp:lastModifiedBy>MCA III Semester</cp:lastModifiedBy>
  <cp:revision>1</cp:revision>
  <dcterms:created xsi:type="dcterms:W3CDTF">2026-10-23T07:55:21Z</dcterms:created>
  <dcterms:modified xsi:type="dcterms:W3CDTF">2026-10-23T07:55:21Z</dcterms:modified>
</cp:coreProperties>
</file>